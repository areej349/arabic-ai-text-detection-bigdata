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Human (0)
20%</c:v>
                  </c:pt>
                  <c:pt idx="1">
                    <c:v>AI (1)
80%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8388</c:v>
                </c:pt>
                <c:pt idx="1">
                  <c:v>33552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Linear SVM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0.976</c:v>
                </c:pt>
                <c:pt idx="1">
                  <c:v>0.9115</c:v>
                </c:pt>
                <c:pt idx="2">
                  <c:v>0.9745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Linear SVM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0.9764</c:v>
                </c:pt>
                <c:pt idx="1">
                  <c:v>0.9161</c:v>
                </c:pt>
                <c:pt idx="2">
                  <c:v>0.9746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Linear SVM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0.9953</c:v>
                </c:pt>
                <c:pt idx="1">
                  <c:v>0.9792</c:v>
                </c:pt>
                <c:pt idx="2">
                  <c:v>0.9938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2"/>
          <c:min val="0.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Batch Throughput vs Executors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(rec/s)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local[1]</c:v>
                  </c:pt>
                  <c:pt idx="1">
                    <c:v>local[2] ★</c:v>
                  </c:pt>
                  <c:pt idx="2">
                    <c:v>local[4]</c:v>
                  </c:pt>
                  <c:pt idx="3">
                    <c:v>local[8]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1779</c:v>
                </c:pt>
                <c:pt idx="1">
                  <c:v>2690</c:v>
                </c:pt>
                <c:pt idx="2">
                  <c:v>620</c:v>
                </c:pt>
                <c:pt idx="3">
                  <c:v>2638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Real-time Detection of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Arabic Text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Data Pipeline Approach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Areej Abdulaziz Alshamani  —  4725057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MSBDA-801 Big Data Analytics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Mohammed Alsarem  |  Taibah University  | 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overview of the Big Data pipeline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44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916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detecting AI-generated Arabic text matters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79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514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Pipeline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26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distributed Spark pipeline on CentOS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5760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136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1605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+ 5 stylometric features (5,005 dims)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188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18872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444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1280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16916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RF, SVM — with class imbalance handling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423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42316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79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2514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&amp; Scalability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29260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+ executor benchmarks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657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657600"/>
            <a:ext cx="50292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9136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3749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41605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future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of AI-generated Arabic text detection at scale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(GPT-4, ALLaM, Jais, Llama) produce near-human Arabic text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Threats: academic fraud, misinformation, content credibility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NLP is under-resourced vs. English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 is infeasible at Big Data scale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1097280"/>
            <a:ext cx="3108960" cy="3566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1691640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Spark pipeline on CentOS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Arabic NLP preprocessing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Stylometric + TF-IDF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scalability benchmarking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5029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749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KFUPM-JRCAI Arabic Generated Abstracts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41,940 samples  |  8,388 Human (20%)  |  33,552 AI (80%)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Distributed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Big Data workflow on Apache Spark / CentOS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50876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17627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→ Parquet/ORC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EDA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41,940 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011680" y="1143000"/>
            <a:ext cx="1508760" cy="2011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188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5361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17627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Stemming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49040" y="1143000"/>
            <a:ext cx="150876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188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15361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17627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5000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Stylometric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5,005 dims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0" y="1143000"/>
            <a:ext cx="1508760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1188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15361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17627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stream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batches×50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deployment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223760" y="1143000"/>
            <a:ext cx="1508760" cy="20116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23760" y="11887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153619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2176272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 Stream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337560"/>
            <a:ext cx="859536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3401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Tasks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490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Word Count &amp; Bigram Frequency (RDD reduceByKey)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Hapax Legomena Ratio + Scalable Feature Extraction (M/R style)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 &amp; Class Imbalance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KFUPM-JRCAI Arabic Generated Abstracts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371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1554480"/>
            <a:ext cx="301752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54480"/>
            <a:ext cx="133502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55648" y="1554480"/>
            <a:ext cx="298094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HuggingFace: KFUPM-JRCAI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1371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2029968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29968"/>
            <a:ext cx="133502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Methods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55648" y="2029968"/>
            <a:ext cx="298094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by_polishing / from_title / from_title_and_content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1371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7360" y="2505456"/>
            <a:ext cx="301752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505456"/>
            <a:ext cx="133502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55648" y="2505456"/>
            <a:ext cx="298094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ALLaM, Jais, Llama 3.1, OpenAI GPT-4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80944"/>
            <a:ext cx="1371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2980944"/>
            <a:ext cx="3017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980944"/>
            <a:ext cx="133502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rows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55648" y="2980944"/>
            <a:ext cx="298094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8,388 human abstracts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13716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7360" y="3456432"/>
            <a:ext cx="301752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456432"/>
            <a:ext cx="133502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flattening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55648" y="3456432"/>
            <a:ext cx="298094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41,940 rows (1 Human + 4 AI per row)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4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029200" y="1463040"/>
          <a:ext cx="37490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Class Imbalance: 4:1 ratio  →  </a:t>
            </a:r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via class-weight compensation during model training
</a:t>
            </a:r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weight_human = 2.500   |   weight_ai = 0.625   |   Data distribution unchanged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(Phase 3)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TF-IDF(5,000) + 5 assigned stylometric features = 5,005 dimensions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486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9728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097280"/>
            <a:ext cx="29260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09728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097280"/>
            <a:ext cx="9144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1097280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Avg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9144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097280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Avg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097280"/>
            <a:ext cx="7772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5272" y="1097280"/>
            <a:ext cx="722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Imp.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1097280"/>
            <a:ext cx="16916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0972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481328"/>
            <a:ext cx="548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148132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1481328"/>
            <a:ext cx="292608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148132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digits / 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49040" y="1481328"/>
            <a:ext cx="91440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85616" y="14813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0.003041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481328"/>
            <a:ext cx="91440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14813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0.002219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1481328"/>
            <a:ext cx="7772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1481328"/>
            <a:ext cx="704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0.000534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1481328"/>
            <a:ext cx="1691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1656" y="1481328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uses fewer digits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1938528"/>
            <a:ext cx="548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193852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1938528"/>
            <a:ext cx="2926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193852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diversity / 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1938528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85616" y="19385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0.004475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1938528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19385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0.004135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1938528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1938528"/>
            <a:ext cx="704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0.001569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1938528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1656" y="1938528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richer punctuation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395728"/>
            <a:ext cx="54864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" y="239572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22960" y="2395728"/>
            <a:ext cx="292608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" y="239572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adjectives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749040" y="2395728"/>
            <a:ext cx="91440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85616" y="23957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6.1927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2395728"/>
            <a:ext cx="91440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0016" y="23957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5.3025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77840" y="2395728"/>
            <a:ext cx="77724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14416" y="2395728"/>
            <a:ext cx="704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0.002301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55080" y="2395728"/>
            <a:ext cx="1691640" cy="420624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91656" y="2395728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Most important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2852928"/>
            <a:ext cx="548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285292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f66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22960" y="2852928"/>
            <a:ext cx="2926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" y="285292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genitives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749040" y="2852928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85616" y="28529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11.8865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2852928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0016" y="28529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11.7611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77840" y="2852928"/>
            <a:ext cx="777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14416" y="2852928"/>
            <a:ext cx="704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0.001687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55080" y="2852928"/>
            <a:ext cx="1691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91656" y="2852928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difference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3310128"/>
            <a:ext cx="548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0896" y="331012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f87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22960" y="3310128"/>
            <a:ext cx="292608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9536" y="3310128"/>
            <a:ext cx="2852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Coefficient of word frequencies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749040" y="3310128"/>
            <a:ext cx="91440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85616" y="33101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0.1653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663440" y="3310128"/>
            <a:ext cx="91440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00016" y="3310128"/>
            <a:ext cx="841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0.1795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577840" y="3310128"/>
            <a:ext cx="7772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14416" y="3310128"/>
            <a:ext cx="704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0.001347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355080" y="3310128"/>
            <a:ext cx="169164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91656" y="3310128"/>
            <a:ext cx="1618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less diverse vocab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74320" y="3858768"/>
            <a:ext cx="859536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57200" y="391363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HashingTF (5,000 features) + IDF (minDocFreq=3)  |  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vector: 5,005 dims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f24 (LR coeff = −58.637) strongest signal  |  f45 top RF importance  |  f87 shows AI vocabulary repetitiveness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Test Set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with class weights  |  Features: TF-IDF(5,000) + f3+f24+f45+f66+f87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(LR)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097280"/>
            <a:ext cx="192024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3172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(LR)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097280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97.6%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(LR)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097280"/>
            <a:ext cx="19202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Recall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2423160"/>
          <a:ext cx="53035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576072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788920"/>
          <a:ext cx="310896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Logistic Regression: best overall — linear classifiers excel on high-dimensional sparse TF-IDF features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 &amp; Scalability (Phase 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4.2: Real-time LR deployment  |  Task 4.4: Executor benchmarks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1,125ms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1097280"/>
            <a:ext cx="192024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r/s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3172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Throughput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097280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0.9120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38912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1097280"/>
            <a:ext cx="19202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Recall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242316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4663440" y="2395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vs. Stream Comparison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788920"/>
          <a:ext cx="420624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Throughput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2,690 r/s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r/s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~30,000ms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1,125ms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local[2]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local[*]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local[2] is optimal  |  local[4] anomaly due to JVM GC pause  |  Trade-off: Batch=accuracy, Stream=latency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and next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64008" cy="2103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84048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achieved F1=0.9764, AUC=0.9953 — best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(4:1) handled via class weights — Human Recall = 0.9842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f24 (punctuation) strongest LR signal (coeff=−58.637)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f45 (adjectives) top RF importance — humans use more descriptors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f87 (Gini) reveals AI vocabulary repetitiveness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43000"/>
            <a:ext cx="64008" cy="2103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527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00200"/>
            <a:ext cx="384048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local[2] → 2,690 rec/s (0.37s batch)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avg latency 1,125ms, 49 rec/s, accuracy 0.9120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5-phase distributed pipeline on CentOS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Parquet/ORC storage + MapReduce corpus analytics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83280"/>
            <a:ext cx="64008" cy="15087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493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384048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Arabic academic abstracts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 Spark — not true distributed cluster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LinearSVC: no weightCol support in PySpark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stream simulation (no live Kafka)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3832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383280"/>
            <a:ext cx="64008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493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840480"/>
            <a:ext cx="3840480" cy="941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 / deep learning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Kafka streaming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 EMR / Databricks)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&amp; more diverse Arabic datasets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 </a:t>
            </a:r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 —  F1=0.9764  |  AUC=0.9953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243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41,940 samples  |  8,388 Human (20%)  |  33,552 AI (80%)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0837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 </a:t>
            </a:r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local[2] optimal  →  2,690 rec/s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3924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 </a:t>
            </a:r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latency 1,125ms  |  49 rec/s  |  Acc=0.9120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764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pPr indent="0" marL="0">
              <a:buNone/>
            </a:pPr>
            <a:r>
              <a:rPr lang="en-US" sz="12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&amp; reports available in the project repository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18795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B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Areej Abdulaziz Alshamani  —  4725057  |  MSBDA-801  |  Taibah University  |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Real-time Detection of AI-Generated Arabic Text</dc:title>
  <dc:subject>PptxGenJS Presentation</dc:subject>
  <dc:creator>Areej Abdulaziz Alshamani</dc:creator>
  <cp:lastModifiedBy>Areej Abdulaziz Alshamani</cp:lastModifiedBy>
  <cp:revision>1</cp:revision>
  <dcterms:created xsi:type="dcterms:W3CDTF">2026-05-20T08:43:32Z</dcterms:created>
  <dcterms:modified xsi:type="dcterms:W3CDTF">2026-05-20T08:43:32Z</dcterms:modified>
</cp:coreProperties>
</file>